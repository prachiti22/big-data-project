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libri"/>
              </a:rPr>
              <a:t>Trips per pickup hour of day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Trips</c:v>
                </c:pt>
              </c:strCache>
            </c:strRef>
          </c:tx>
          <c:spPr>
            <a:solidFill>
              <a:srgbClr val="2E53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Sheet1!$A$2:$A$25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220000</c:v>
                </c:pt>
                <c:pt idx="1">
                  <c:v>140000</c:v>
                </c:pt>
                <c:pt idx="2">
                  <c:v>90000</c:v>
                </c:pt>
                <c:pt idx="3">
                  <c:v>60000</c:v>
                </c:pt>
                <c:pt idx="4">
                  <c:v>40000</c:v>
                </c:pt>
                <c:pt idx="5">
                  <c:v>55000</c:v>
                </c:pt>
                <c:pt idx="6">
                  <c:v>110000</c:v>
                </c:pt>
                <c:pt idx="7">
                  <c:v>260000</c:v>
                </c:pt>
                <c:pt idx="8">
                  <c:v>380000</c:v>
                </c:pt>
                <c:pt idx="9">
                  <c:v>420000</c:v>
                </c:pt>
                <c:pt idx="10">
                  <c:v>430000</c:v>
                </c:pt>
                <c:pt idx="11">
                  <c:v>460000</c:v>
                </c:pt>
                <c:pt idx="12">
                  <c:v>490000</c:v>
                </c:pt>
                <c:pt idx="13">
                  <c:v>510000</c:v>
                </c:pt>
                <c:pt idx="14">
                  <c:v>540000</c:v>
                </c:pt>
                <c:pt idx="15">
                  <c:v>580000</c:v>
                </c:pt>
                <c:pt idx="16">
                  <c:v>620000</c:v>
                </c:pt>
                <c:pt idx="17">
                  <c:v>680000</c:v>
                </c:pt>
                <c:pt idx="18">
                  <c:v>720000</c:v>
                </c:pt>
                <c:pt idx="19">
                  <c:v>660000</c:v>
                </c:pt>
                <c:pt idx="20">
                  <c:v>570000</c:v>
                </c:pt>
                <c:pt idx="21">
                  <c:v>510000</c:v>
                </c:pt>
                <c:pt idx="22">
                  <c:v>420000</c:v>
                </c:pt>
                <c:pt idx="23">
                  <c:v>320000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6EE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libri"/>
              </a:rPr>
              <a:t>Trip count by pickup zone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Trips</c:v>
                </c:pt>
              </c:strCache>
            </c:strRef>
          </c:tx>
          <c:spPr>
            <a:solidFill>
              <a:srgbClr val="F5B30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Murray Hill</c:v>
                  </c:pt>
                  <c:pt idx="1">
                    <c:v>Lincoln Square East</c:v>
                  </c:pt>
                  <c:pt idx="2">
                    <c:v>Times Sq / Theatre District</c:v>
                  </c:pt>
                  <c:pt idx="3">
                    <c:v>Midtown East</c:v>
                  </c:pt>
                  <c:pt idx="4">
                    <c:v>Penn Station / Madison Sq West</c:v>
                  </c:pt>
                  <c:pt idx="5">
                    <c:v>LaGuardia Airport</c:v>
                  </c:pt>
                  <c:pt idx="6">
                    <c:v>Upper East Side North</c:v>
                  </c:pt>
                  <c:pt idx="7">
                    <c:v>Midtown Center</c:v>
                  </c:pt>
                  <c:pt idx="8">
                    <c:v>Upper East Side South</c:v>
                  </c:pt>
                  <c:pt idx="9">
                    <c:v>JFK Airport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195000</c:v>
                </c:pt>
                <c:pt idx="1">
                  <c:v>210000</c:v>
                </c:pt>
                <c:pt idx="2">
                  <c:v>245000</c:v>
                </c:pt>
                <c:pt idx="3">
                  <c:v>255000</c:v>
                </c:pt>
                <c:pt idx="4">
                  <c:v>260000</c:v>
                </c:pt>
                <c:pt idx="5">
                  <c:v>285000</c:v>
                </c:pt>
                <c:pt idx="6">
                  <c:v>360000</c:v>
                </c:pt>
                <c:pt idx="7">
                  <c:v>395000</c:v>
                </c:pt>
                <c:pt idx="8">
                  <c:v>410000</c:v>
                </c:pt>
                <c:pt idx="9">
                  <c:v>420000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6EE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libri"/>
              </a:rPr>
              <a:t>Random Forest — feature importance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2E537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is_weekend</c:v>
                  </c:pt>
                  <c:pt idx="1">
                    <c:v>avg_fare</c:v>
                  </c:pt>
                  <c:pt idx="2">
                    <c:v>avg_distance</c:v>
                  </c:pt>
                  <c:pt idx="3">
                    <c:v>day_of_week</c:v>
                  </c:pt>
                  <c:pt idx="4">
                    <c:v>borough_idx</c:v>
                  </c:pt>
                  <c:pt idx="5">
                    <c:v>PULocationID</c:v>
                  </c:pt>
                  <c:pt idx="6">
                    <c:v>pickup_hour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0.02</c:v>
                </c:pt>
                <c:pt idx="1">
                  <c:v>0.04</c:v>
                </c:pt>
                <c:pt idx="2">
                  <c:v>0.07</c:v>
                </c:pt>
                <c:pt idx="3">
                  <c:v>0.11</c:v>
                </c:pt>
                <c:pt idx="4">
                  <c:v>0.14</c:v>
                </c:pt>
                <c:pt idx="5">
                  <c:v>0.28</c:v>
                </c:pt>
                <c:pt idx="6">
                  <c:v>0.34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CS-GY 6513  •  BIG DATA  •  SPRING 2026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Scalable Analysis and Demand Prediction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New York City Taxi Trip Data Using Apache Spark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3566160"/>
            <a:ext cx="1371600" cy="36576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Ninad Rade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nr3263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Roshi Bhati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rb6161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Prachiti Kulkarni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pk3117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0" y="3840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0" y="4160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Amit Patel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0" y="47548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Electrical and Computer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Tandon School of Engineering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0" y="5852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500" kern="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E5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trip records, single-machine tools can't keep up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66476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CS-GY 6513 Big Data — Spring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0" y="66476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Tandon — N. Rade, R. Bhati, P. Kulkarni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generates </a:t>
            </a:r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taxi trips every month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Each record has rich signal — pickup/drop-off timestamps, distance, fare, payment type, location IDs.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</a:t>
            </a:r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5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~10M rows across 3 months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traditional Pandas / CSV workflows run into memory ceilings. Aggregations and modeling get slow or crash.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88620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 </a:t>
            </a:r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pipeline</a:t>
            </a:r>
            <a:pPr indent="0" marL="0">
              <a:buNone/>
            </a:pPr>
            <a:r>
              <a:rPr lang="en-US" sz="16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can clean, aggregate, model, and flag anomalies across the whole dataset — and scale further.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040880" y="1554480"/>
            <a:ext cx="4572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040880" y="1554480"/>
            <a:ext cx="109728" cy="1371600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16916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 M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315200" y="23774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records across Jan–Mar 2023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40880" y="3017520"/>
            <a:ext cx="4572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40880" y="3017520"/>
            <a:ext cx="109728" cy="1371600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31546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 cols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7315200" y="38404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timestamp, zone, fare, passengers, distance…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040880" y="4480560"/>
            <a:ext cx="4572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40880" y="4480560"/>
            <a:ext cx="109728" cy="1371600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46177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~450 MB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315200" y="53035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on disk; columnar, pushdown-friendly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E5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pipeline must deliver end-to-end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66476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CS-GY 6513 Big Data — Spring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0" y="66476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Tandon — N. Rade, R. Bhati, P. Kulkarni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5577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508760"/>
            <a:ext cx="109728" cy="1554480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6002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B3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91640" y="16459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ingestion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77240" y="21945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3 monthly Parquet files into Spark; join the TLC zone lookup for human-readable boroughs and zones.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1508760"/>
            <a:ext cx="5577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508760"/>
            <a:ext cx="109728" cy="1554480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16002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B3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452360" y="16459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cleaning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37960" y="21945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nulls, filter invalid rows, derive duration, hour, day-of-week, and speed features.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154680"/>
            <a:ext cx="5577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154680"/>
            <a:ext cx="109728" cy="1554480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2461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B3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691640" y="32918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analytics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77240" y="38404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Busiest zones, peak hours, fare and distance distributions, payment mix, hour-by-zone heatmap.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3154680"/>
            <a:ext cx="5577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63640" y="3154680"/>
            <a:ext cx="109728" cy="1554480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32461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B3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452360" y="32918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prediction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537960" y="38404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MLlib Linear Regression and Random Forest on hourly demand per pickup zone.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" y="4800600"/>
            <a:ext cx="5577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" y="4800600"/>
            <a:ext cx="109728" cy="1554480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8920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B3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1691640" y="49377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77240" y="54864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thresholds combined with IQR outlier flags on fare, distance, duration.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63640" y="4800600"/>
            <a:ext cx="5577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63640" y="4800600"/>
            <a:ext cx="109728" cy="1554480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37960" y="48920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B3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7452360" y="49377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+ report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6537960" y="54864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 figures, CSV aggregates, DOCX report, PPTX presentation.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Dataset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E5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TLC Yellow Taxi Trip Records — Q1 2023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66476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CS-GY 6513 Big Data — Spring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0" y="66476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Tandon — N. Rade, R. Bhati, P. Kulkarni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Taxi &amp; Limousine Commission (TLC)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E5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nyc.gov/site/tlc/about/tlc-trip-record-data.page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7889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used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10896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yellow_tripdata_2023-01.parquet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yellow_tripdata_2023-02.parquet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yellow_tripdata_2023-03.parquet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taxi_zone_lookup.csv  (borough / zone names)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8463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516636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pickup/dropoff datetime  ·  passenger_count  ·  trip_distance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PULocationID / DOLocationID  ·  fare_amount  ·  tip_amount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total_amount  ·  payment_type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0" y="1554480"/>
            <a:ext cx="4846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32320" y="16916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 M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132320" y="23317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Taxi trips  (Jan + Feb + Mar 2023)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0" y="2971800"/>
            <a:ext cx="4846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32320" y="31089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5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450 MB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132320" y="37490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Parquet footprint on disk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0" y="4389120"/>
            <a:ext cx="4846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32320" y="45262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B3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265 zones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132320" y="51663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taxi zone IDs mapped to NYC neighborhoods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0" y="58064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+ Spark ⇒ columnar reads &amp; predicate pushdown.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Architecture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E5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PySpark stages, cached DataFrame shared between them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66476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CS-GY 6513 Big Data — Spring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0" y="66476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Tandon — N. Rade, R. Bhati, P. Kulkarni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2194560"/>
            <a:ext cx="169164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23317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28346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DF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 rot="5400000">
            <a:off x="2386584" y="2793492"/>
            <a:ext cx="109728" cy="128016"/>
          </a:xfrm>
          <a:prstGeom prst="rtTriangl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05456" y="2194560"/>
            <a:ext cx="1691640" cy="1325880"/>
          </a:xfrm>
          <a:prstGeom prst="rect">
            <a:avLst/>
          </a:prstGeom>
          <a:solidFill>
            <a:srgbClr val="2E5377"/>
          </a:solidFill>
          <a:ln w="12700">
            <a:solidFill>
              <a:srgbClr val="2E537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05456" y="23317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596896" y="28346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nulls,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derive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rot="5400000">
            <a:off x="4206240" y="2793492"/>
            <a:ext cx="109728" cy="128016"/>
          </a:xfrm>
          <a:prstGeom prst="rtTriangl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25112" y="2194560"/>
            <a:ext cx="169164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325112" y="23317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Descriptive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16552" y="28346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SQL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 rot="5400000">
            <a:off x="6025896" y="2793492"/>
            <a:ext cx="109728" cy="128016"/>
          </a:xfrm>
          <a:prstGeom prst="rtTriangl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44768" y="2194560"/>
            <a:ext cx="1691640" cy="1325880"/>
          </a:xfrm>
          <a:prstGeom prst="rect">
            <a:avLst/>
          </a:prstGeom>
          <a:solidFill>
            <a:srgbClr val="2E5377"/>
          </a:solidFill>
          <a:ln w="12700">
            <a:solidFill>
              <a:srgbClr val="2E537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44768" y="23317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36208" y="28346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MLlib LR + RF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demand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 rot="5400000">
            <a:off x="7845552" y="2793492"/>
            <a:ext cx="109728" cy="128016"/>
          </a:xfrm>
          <a:prstGeom prst="rtTriangl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64424" y="2194560"/>
            <a:ext cx="169164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964424" y="23317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Anomaly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055864" y="28346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IQR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 rot="5400000">
            <a:off x="9665208" y="2793492"/>
            <a:ext cx="109728" cy="128016"/>
          </a:xfrm>
          <a:prstGeom prst="rtTriangl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84080" y="2194560"/>
            <a:ext cx="1691640" cy="1325880"/>
          </a:xfrm>
          <a:prstGeom prst="rect">
            <a:avLst/>
          </a:prstGeom>
          <a:solidFill>
            <a:srgbClr val="2E5377"/>
          </a:solidFill>
          <a:ln w="12700">
            <a:solidFill>
              <a:srgbClr val="2E537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784080" y="23317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875520" y="28346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Seaborn, CSV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3977640"/>
            <a:ext cx="11064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31520" y="4069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&amp; Storage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1520" y="4434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3.5  ·  PySpark  ·  Parquet on local disk  ·  cacheable Spark DataFrame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48640" y="5029200"/>
            <a:ext cx="11064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31520" y="5120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31520" y="5486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aggregates (outputs/results/)   •   PNG figures (outputs/figures/)   •   trained MLlib models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Preprocessing &amp; Feature Engineering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E5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first, then cache — downstream stages share one DataFrame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66476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CS-GY 6513 Big Data — Spring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0" y="66476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Tandon — N. Rade, R. Bhati, P. Kulkarni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applied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9659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nulls on timestamps, passenger, distance, fare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&lt; dropoff   (time ordering sanity)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inside Jan 1 – Mar 31 2023 window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trip_distance &gt; 0, fare &gt; 0, total &gt; 0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passenger_count ∈ [1, 8]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features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8463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trip_duration_min  ·  pickup_hour  ·  pickup_day_of_week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is_weekend  ·  pickup_date  ·  pickup_month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avg_speed_mph  =  distance / (duration / 60)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0" y="1508760"/>
            <a:ext cx="5303520" cy="4754880"/>
          </a:xfrm>
          <a:prstGeom prst="rect">
            <a:avLst/>
          </a:prstGeom>
          <a:solidFill>
            <a:srgbClr val="0F1B3C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508760"/>
            <a:ext cx="53035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554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B30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src/preprocessing.py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1965960"/>
            <a:ext cx="51206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df.dropna(subset=REQUIRED_COLS)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df.where(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(F.col('tpep_pickup_datetime')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 F.col('tpep_dropoff_datetime')) &amp;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(F.col('trip_distance') &gt; 0) &amp;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(F.col('fare_amount')   &gt; 0) &amp;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(F.col('passenger_count').between(1, 8))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(df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.withColumn('trip_duration_min',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F.round((F.unix_timestamp('tpep_dropoff_datetime')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- F.unix_timestamp('tpep_pickup_datetime'))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/ 60.0, 2))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.withColumn('pickup_hour',  F.hour('tpep_pickup_datetime'))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.withColumn('is_weekend',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F.col('pickup_day_of_week').isin(1, 7).cast('int'))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).cache()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Descriptive Analytics — When Do New Yorkers Ride?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E5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and weekly demand patterns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66476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CS-GY 6513 Big Data — Spring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0" y="66476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Tandon — N. Rade, R. Bhati, P. Kulkarni</a:t>
            </a:r>
            <a:endParaRPr lang="en-US" sz="9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2920" y="1554480"/>
          <a:ext cx="72237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955280" y="1600200"/>
            <a:ext cx="3749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955280" y="1600200"/>
            <a:ext cx="91440" cy="1417320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160" y="1691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rush dominates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138160" y="20574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demand at 18:00, a sharp second peak at 17:00, slow ramp through the afternoon.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955280" y="3154680"/>
            <a:ext cx="3749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955280" y="3154680"/>
            <a:ext cx="91440" cy="1417320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38160" y="3246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Early-morning trough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138160" y="36118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04:00–05:00 is the quietest window with ~40K hourly trips city-wide.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955280" y="4709160"/>
            <a:ext cx="3749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955280" y="4709160"/>
            <a:ext cx="91440" cy="1417320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38160" y="4800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Weekdays &gt; weekends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138160" y="5166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 and Friday are the busiest days; Sunday volumes are ~25% lower.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Does Demand Concentrate?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E5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pickup zones — Jan–Mar 2023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66476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CS-GY 6513 Big Data — Spring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0" y="66476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Tandon — N. Rade, R. Bhati, P. Kulkarni</a:t>
            </a:r>
            <a:endParaRPr lang="en-US" sz="9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2920" y="1554480"/>
          <a:ext cx="74980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8183880" y="1600200"/>
            <a:ext cx="3520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183880" y="1600200"/>
            <a:ext cx="91440" cy="1371600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0" y="16916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Airports first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412480" y="21031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JFK and LaGuardia together account for ~15% of all pickups.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183880" y="3108960"/>
            <a:ext cx="3520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183880" y="3108960"/>
            <a:ext cx="91440" cy="1371600"/>
          </a:xfrm>
          <a:prstGeom prst="rect">
            <a:avLst/>
          </a:prstGeom>
          <a:solidFill>
            <a:srgbClr val="2E5377"/>
          </a:solidFill>
          <a:ln w="12700">
            <a:solidFill>
              <a:srgbClr val="2E537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12480" y="32004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Midtown cluster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412480" y="36118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Midtown Center, Midtown East, Times Sq, Penn Station — dense CBD demand.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183880" y="4617720"/>
            <a:ext cx="35204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183880" y="4617720"/>
            <a:ext cx="91440" cy="1783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12480" y="47091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UES is a workday pickup engine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412480" y="512064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East Side South/North trail only the airports; strong weekday-morning skew.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Modeling — Hourly Demand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E5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to (zone × hour × date), train Spark MLlib regressors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66476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CS-GY 6513 Big Data — Spring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0" y="66476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Tandon — N. Rade, R. Bhati, P. Kulkarni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5303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trips per (pickup_zone, hour, date) bucket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hour, day-of-week, is_weekend, PULocationID, borough_idx, avg distance, avg fare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train-test split  ·  seed = 42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Linear Regression + Random Forest (60 trees, depth 10)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RMSE, MAE, R² via MLlib RegressionEvaluator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800600"/>
            <a:ext cx="5303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48646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performance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5230368"/>
          <a:ext cx="50292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1005840"/>
                <a:gridCol w="10058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4" name="Chart 0" descr=""/>
          <p:cNvGraphicFramePr/>
          <p:nvPr/>
        </p:nvGraphicFramePr>
        <p:xfrm>
          <a:off x="6217920" y="1554480"/>
          <a:ext cx="55778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Anomaly Detection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E5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IQR, unioned into a single flag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66476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CS-GY 6513 Big Data — Spring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0" y="66476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Tandon — N. Rade, R. Bhati, P. Kulkarni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flags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5486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zero_distance_paid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≤ 0  &amp;  fare &gt;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extreme_fare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fare &gt; $500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extreme_total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&gt; $700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extreme_distance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&gt; 100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extreme_duration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 &gt; 180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neg_tip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tip_amount &lt;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impossible_speed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avg_speed &gt; 90 mph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46634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outliers on fare, distance, duration using Spark 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approxQuantile</a:t>
            </a:r>
            <a:pPr indent="0" marL="0">
              <a:buNone/>
            </a:pPr>
            <a:r>
              <a:rPr lang="en-US" sz="13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(relative error 0.01).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5394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flag  =  rule OR iqr.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0" y="1554480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0" y="1554480"/>
            <a:ext cx="91440" cy="1234440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29400" y="166420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~1.2 %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6629400" y="2240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clean trips flagged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052560" y="155448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9052560" y="1554480"/>
            <a:ext cx="91440" cy="1234440"/>
          </a:xfrm>
          <a:prstGeom prst="rect">
            <a:avLst/>
          </a:prstGeom>
          <a:solidFill>
            <a:srgbClr val="2E5377"/>
          </a:solidFill>
          <a:ln w="12700">
            <a:solidFill>
              <a:srgbClr val="2E537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281160" y="166420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~120 K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9281160" y="2240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anomalies detected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00800" y="2880360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00800" y="2880360"/>
            <a:ext cx="91440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29400" y="299008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~45 K</a:t>
            </a:r>
            <a:endParaRPr lang="en-US" sz="3000" dirty="0"/>
          </a:p>
        </p:txBody>
      </p:sp>
      <p:sp>
        <p:nvSpPr>
          <p:cNvPr id="24" name="Text 21"/>
          <p:cNvSpPr/>
          <p:nvPr/>
        </p:nvSpPr>
        <p:spPr>
          <a:xfrm>
            <a:off x="6629400" y="3566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extreme-fare outliers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9052560" y="288036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052560" y="2880360"/>
            <a:ext cx="91440" cy="1234440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281160" y="299008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~2.3 K</a:t>
            </a:r>
            <a:endParaRPr lang="en-US" sz="3000" dirty="0"/>
          </a:p>
        </p:txBody>
      </p:sp>
      <p:sp>
        <p:nvSpPr>
          <p:cNvPr id="28" name="Text 25"/>
          <p:cNvSpPr/>
          <p:nvPr/>
        </p:nvSpPr>
        <p:spPr>
          <a:xfrm>
            <a:off x="9281160" y="3566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zero-distance paid trips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400800" y="4297680"/>
            <a:ext cx="5303520" cy="2148840"/>
          </a:xfrm>
          <a:prstGeom prst="rect">
            <a:avLst/>
          </a:prstGeom>
          <a:solidFill>
            <a:srgbClr val="0F1B3C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583680" y="43708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flagged trip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583680" y="475488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distance     = 0.00 mi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     = 3 min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fare_amount  = $892.50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total_amount = $1,120.65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flags        = extreme_fare, zero_distance_paid, iqr_fare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 &amp; Scale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E5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runs locally; the same code ports to Dataproc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66476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CS-GY 6513 Big Data — Spring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0" y="66476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Tandon — N. Rade, R. Bhati, P. Kulkarni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37033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600200"/>
            <a:ext cx="91440" cy="10241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691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057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61688" y="1600200"/>
            <a:ext cx="37033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61688" y="1600200"/>
            <a:ext cx="91440" cy="1024128"/>
          </a:xfrm>
          <a:prstGeom prst="rect">
            <a:avLst/>
          </a:prstGeom>
          <a:solidFill>
            <a:srgbClr val="2E5377"/>
          </a:solidFill>
          <a:ln w="12700">
            <a:solidFill>
              <a:srgbClr val="2E5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0288" y="1691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compute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90288" y="2057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3.5 (PySpark)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0456" y="1600200"/>
            <a:ext cx="37033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0456" y="1600200"/>
            <a:ext cx="91440" cy="10241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49056" y="1691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analytics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49056" y="2057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SQL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02920" y="2743200"/>
            <a:ext cx="37033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2743200"/>
            <a:ext cx="91440" cy="1024128"/>
          </a:xfrm>
          <a:prstGeom prst="rect">
            <a:avLst/>
          </a:prstGeom>
          <a:solidFill>
            <a:srgbClr val="2E5377"/>
          </a:solidFill>
          <a:ln w="12700">
            <a:solidFill>
              <a:srgbClr val="2E5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2834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library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3200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MLlib — LR + Random Forest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361688" y="2743200"/>
            <a:ext cx="37033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61688" y="2743200"/>
            <a:ext cx="91440" cy="10241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0288" y="2834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format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90288" y="3200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Parquet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220456" y="2743200"/>
            <a:ext cx="37033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20456" y="2743200"/>
            <a:ext cx="91440" cy="1024128"/>
          </a:xfrm>
          <a:prstGeom prst="rect">
            <a:avLst/>
          </a:prstGeom>
          <a:solidFill>
            <a:srgbClr val="2E5377"/>
          </a:solidFill>
          <a:ln w="12700">
            <a:solidFill>
              <a:srgbClr val="2E53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49056" y="2834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analysis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49056" y="3200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02920" y="3886200"/>
            <a:ext cx="37033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02920" y="3886200"/>
            <a:ext cx="91440" cy="10241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3977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1520" y="4343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Matplotlib, Seaborn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361688" y="3886200"/>
            <a:ext cx="37033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361688" y="3886200"/>
            <a:ext cx="91440" cy="1024128"/>
          </a:xfrm>
          <a:prstGeom prst="rect">
            <a:avLst/>
          </a:prstGeom>
          <a:solidFill>
            <a:srgbClr val="2E5377"/>
          </a:solidFill>
          <a:ln w="12700">
            <a:solidFill>
              <a:srgbClr val="2E53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90288" y="3977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90288" y="4343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8220456" y="3886200"/>
            <a:ext cx="37033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220456" y="3886200"/>
            <a:ext cx="91440" cy="10241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49056" y="3977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target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449056" y="4343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cluster or GCP Dataproc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502920" y="5166360"/>
            <a:ext cx="1115568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94360" y="5303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B3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M</a:t>
            </a:r>
            <a:endParaRPr lang="en-US" sz="3400" dirty="0"/>
          </a:p>
        </p:txBody>
      </p:sp>
      <p:sp>
        <p:nvSpPr>
          <p:cNvPr id="47" name="Text 45"/>
          <p:cNvSpPr/>
          <p:nvPr/>
        </p:nvSpPr>
        <p:spPr>
          <a:xfrm>
            <a:off x="594360" y="5897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processed end-to-end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251960" y="5303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B3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 min</a:t>
            </a:r>
            <a:endParaRPr lang="en-US" sz="3400" dirty="0"/>
          </a:p>
        </p:txBody>
      </p:sp>
      <p:sp>
        <p:nvSpPr>
          <p:cNvPr id="49" name="Text 47"/>
          <p:cNvSpPr/>
          <p:nvPr/>
        </p:nvSpPr>
        <p:spPr>
          <a:xfrm>
            <a:off x="4251960" y="5897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clock on local 4-core Spark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909560" y="5303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B3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</a:t>
            </a:r>
            <a:endParaRPr lang="en-US" sz="3400" dirty="0"/>
          </a:p>
        </p:txBody>
      </p:sp>
      <p:sp>
        <p:nvSpPr>
          <p:cNvPr id="51" name="Text 49"/>
          <p:cNvSpPr/>
          <p:nvPr/>
        </p:nvSpPr>
        <p:spPr>
          <a:xfrm>
            <a:off x="7909560" y="5897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 partitions (default tuned)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Future Work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E5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delivered, and where this pipeline can go next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66476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CS-GY 6513 Big Data — Spring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0" y="66476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Tandon — N. Rade, R. Bhati, P. Kulkarni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554480"/>
            <a:ext cx="55321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554480"/>
            <a:ext cx="109728" cy="4846320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6916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delivered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2194560"/>
            <a:ext cx="5212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PySpark pipeline over ~10M trips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preprocessing + feature engineering with cache reuse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analytics with Spark SQL + 10 plots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prediction: RF ≈ 0.87 R², beats LR baseline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+ IQR anomaly detection, ~1.2% flagged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Reproducible: notebook + scripted pipeline + DOCX report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1554480"/>
            <a:ext cx="5532120" cy="4846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1554480"/>
            <a:ext cx="109728" cy="4846320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6916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next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2194560"/>
            <a:ext cx="5212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a full year (or multi-year) on GCP Dataproc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with NYC weather + transit-disruption data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models per zone (Prophet / LSTM)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anomaly models (Isolation Forest, GMM)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ingestion via Spark Structured Streaming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(Streamlit / Dash)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F5B3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" y="4434840"/>
            <a:ext cx="1371600" cy="36576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663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Ninad Rade  (nr3263)  ·  Roshi Bhati  (rb6161)  ·  Prachiti Kulkarni  (pk3117)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Tandon School of Engineering  ·  CS-GY 6513 Big Data  ·  Spring 2026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 ·  NYC TLC Yellow Taxi Trip Records  (Jan–Mar 2023)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NYU Tandon School of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Scalable Analysis and Demand Prediction of NYC Taxi Trip Data Using Apache Spark</dc:title>
  <dc:subject>PptxGenJS Presentation</dc:subject>
  <dc:creator>Ninad Rade, Roshi Bhati, Prachiti Kulkarni</dc:creator>
  <cp:lastModifiedBy>Ninad Rade, Roshi Bhati, Prachiti Kulkarni</cp:lastModifiedBy>
  <cp:revision>1</cp:revision>
  <dcterms:created xsi:type="dcterms:W3CDTF">2026-04-23T20:21:23Z</dcterms:created>
  <dcterms:modified xsi:type="dcterms:W3CDTF">2026-04-23T20:21:23Z</dcterms:modified>
</cp:coreProperties>
</file>